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b63482a-c004-fdf8-4e18-8750ea2117a0}">
          <p14:sldIdLst>
            <p14:sldId id="256"/>
          </p14:sldIdLst>
        </p14:section>
        <p14:section name="Problem and solution" id="{338f8c39-fd0a-a85f-1b2a-d874d73f9b45}">
          <p14:sldIdLst>
            <p14:sldId id="257"/>
            <p14:sldId id="258"/>
          </p14:sldIdLst>
        </p14:section>
        <p14:section name="The pipeline" id="{bc5cb942-b146-8483-d85e-c21eba89b92f}">
          <p14:sldIdLst>
            <p14:sldId id="259"/>
            <p14:sldId id="260"/>
            <p14:sldId id="261"/>
          </p14:sldIdLst>
        </p14:section>
        <p14:section name="Verification" id="{d976ea94-b745-c940-0b90-bfefd27561e8}">
          <p14:sldIdLst>
            <p14:sldId id="262"/>
            <p14:sldId id="263"/>
            <p14:sldId id="264"/>
            <p14:sldId id="265"/>
          </p14:sldIdLst>
        </p14:section>
        <p14:section name="Delivery" id="{adfb0a49-2980-292a-4f89-e7f18025f30e}">
          <p14:sldIdLst>
            <p14:sldId id="266"/>
            <p14:sldId id="267"/>
          </p14:sldIdLst>
        </p14:section>
        <p14:section name="Results" id="{b011d262-46ad-c5a8-adb3-3874b2b60da0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6454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6454F"/>
                </a:solidFill>
                <a:latin typeface="+mn-lt"/>
              </a:rPr>
              <a:t>Line coverage by package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 coverage</c:v>
                </c:pt>
              </c:strCache>
            </c:strRef>
          </c:tx>
          <c:spPr>
            <a:solidFill>
              <a:srgbClr val="0E8C9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6454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repository</c:v>
                  </c:pt>
                  <c:pt idx="1">
                    <c:v>service</c:v>
                  </c:pt>
                  <c:pt idx="2">
                    <c:v>dto</c:v>
                  </c:pt>
                  <c:pt idx="3">
                    <c:v>domain</c:v>
                  </c:pt>
                  <c:pt idx="4">
                    <c:v>config</c:v>
                  </c:pt>
                  <c:pt idx="5">
                    <c:v>web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95.7</c:v>
                </c:pt>
                <c:pt idx="1">
                  <c:v>85.8</c:v>
                </c:pt>
                <c:pt idx="2">
                  <c:v>79.1</c:v>
                </c:pt>
                <c:pt idx="3">
                  <c:v>74.7</c:v>
                </c:pt>
                <c:pt idx="4">
                  <c:v>54.7</c:v>
                </c:pt>
                <c:pt idx="5">
                  <c:v>27.3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6454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6454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E3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B9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Fifteen-task DevOps project. The application is a vehicle; the deliverable is the pipeline that builds, verifies and ships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delay was the measured baseline in Stage 1. Removing the approval queue is what collapsed it to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version here is the one the build actually resolves, not a version the report hopes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ordering is the whole argument. Walk through: gate at 6, image at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both Ansible and Puppet: they are the two dominant tools; either alone would have sufficed functionally.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widths are deliberate: the pyramid is broad at the unit level and narrow at the browser level, because browser tests are slow and brittle.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thread: every concept answers a 'how do you know'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03120"/>
            <a:ext cx="10908792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 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00A86B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00A86B"/>
                </a:solidFill>
              </a:rPr>
              <a:t> 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5120640"/>
            <a:ext cx="10908792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7A8B9C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7A8B9C"/>
                </a:solidFill>
              </a:rPr>
              <a:t> 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743200"/>
            <a:ext cx="10908792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 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1090879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00A86B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00A86B"/>
                </a:solidFill>
              </a:rPr>
              <a:t>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 </a:t>
            </a: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</a:rPr>
              <a:t>Student Attendance Portal · CI/CD Pipeline · Swaroop Naik · 23102A0001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 </a:t>
            </a: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</a:rPr>
              <a:t>Student Attendance Portal · CI/CD Pipeline · Swaroop Naik · 23102A0001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03120"/>
            <a:ext cx="10908792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CI/CD Pipeline for a Student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Attendance Management Portal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00A86B"/>
                </a:solidFill>
              </a:rPr>
              <a:t>Build · Test · Gate · Containerise · Deploy · Provision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5120640"/>
            <a:ext cx="10908792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Swaroop Naik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A8B9C"/>
                </a:solidFill>
              </a:rPr>
              <a:t>Roll 23102A0001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A8B9C"/>
                </a:solidFill>
              </a:rPr>
              <a:t>Guide: Snehal Andhare</a:t>
            </a:r>
            <a:endParaRPr lang="en-US" sz="1400" dirty="0"/>
          </a:p>
        </p:txBody>
      </p:sp>
      <p:sp>
        <p:nvSpPr>
          <p:cNvPr id="5" name="stage-chip-0"/>
          <p:cNvSpPr/>
          <p:nvPr/>
        </p:nvSpPr>
        <p:spPr>
          <a:xfrm>
            <a:off x="640080" y="1417320"/>
            <a:ext cx="384048" cy="128016"/>
          </a:xfrm>
          <a:prstGeom prst="roundRect">
            <a:avLst>
              <a:gd name="adj" fmla="val 35714"/>
            </a:avLst>
          </a:prstGeom>
          <a:solidFill>
            <a:srgbClr val="00A86B"/>
          </a:solidFill>
          <a:ln w="6350">
            <a:solidFill>
              <a:srgbClr val="00A86B"/>
            </a:solidFill>
            <a:prstDash val="solid"/>
          </a:ln>
        </p:spPr>
      </p:sp>
      <p:sp>
        <p:nvSpPr>
          <p:cNvPr id="6" name="stage-chip-1"/>
          <p:cNvSpPr/>
          <p:nvPr/>
        </p:nvSpPr>
        <p:spPr>
          <a:xfrm>
            <a:off x="1115568" y="1417320"/>
            <a:ext cx="384048" cy="128016"/>
          </a:xfrm>
          <a:prstGeom prst="roundRect">
            <a:avLst>
              <a:gd name="adj" fmla="val 35714"/>
            </a:avLst>
          </a:prstGeom>
          <a:solidFill>
            <a:srgbClr val="00A86B"/>
          </a:solidFill>
          <a:ln w="6350">
            <a:solidFill>
              <a:srgbClr val="00A86B"/>
            </a:solidFill>
            <a:prstDash val="solid"/>
          </a:ln>
        </p:spPr>
      </p:sp>
      <p:sp>
        <p:nvSpPr>
          <p:cNvPr id="7" name="stage-chip-2"/>
          <p:cNvSpPr/>
          <p:nvPr/>
        </p:nvSpPr>
        <p:spPr>
          <a:xfrm>
            <a:off x="1591056" y="1417320"/>
            <a:ext cx="384048" cy="128016"/>
          </a:xfrm>
          <a:prstGeom prst="roundRect">
            <a:avLst>
              <a:gd name="adj" fmla="val 35714"/>
            </a:avLst>
          </a:prstGeom>
          <a:solidFill>
            <a:srgbClr val="00A86B"/>
          </a:solidFill>
          <a:ln w="6350">
            <a:solidFill>
              <a:srgbClr val="00A86B"/>
            </a:solidFill>
            <a:prstDash val="solid"/>
          </a:ln>
        </p:spPr>
      </p:sp>
      <p:sp>
        <p:nvSpPr>
          <p:cNvPr id="8" name="stage-chip-3"/>
          <p:cNvSpPr/>
          <p:nvPr/>
        </p:nvSpPr>
        <p:spPr>
          <a:xfrm>
            <a:off x="2066544" y="1417320"/>
            <a:ext cx="384048" cy="128016"/>
          </a:xfrm>
          <a:prstGeom prst="roundRect">
            <a:avLst>
              <a:gd name="adj" fmla="val 35714"/>
            </a:avLst>
          </a:prstGeom>
          <a:solidFill>
            <a:srgbClr val="00A86B"/>
          </a:solidFill>
          <a:ln w="6350">
            <a:solidFill>
              <a:srgbClr val="00A86B"/>
            </a:solidFill>
            <a:prstDash val="solid"/>
          </a:ln>
        </p:spPr>
      </p:sp>
      <p:sp>
        <p:nvSpPr>
          <p:cNvPr id="9" name="stage-chip-4"/>
          <p:cNvSpPr/>
          <p:nvPr/>
        </p:nvSpPr>
        <p:spPr>
          <a:xfrm>
            <a:off x="2542032" y="1417320"/>
            <a:ext cx="384048" cy="128016"/>
          </a:xfrm>
          <a:prstGeom prst="roundRect">
            <a:avLst>
              <a:gd name="adj" fmla="val 35714"/>
            </a:avLst>
          </a:prstGeom>
          <a:solidFill>
            <a:srgbClr val="00A86B"/>
          </a:solidFill>
          <a:ln w="6350">
            <a:solidFill>
              <a:srgbClr val="00A86B"/>
            </a:solidFill>
            <a:prstDash val="solid"/>
          </a:ln>
        </p:spPr>
      </p:sp>
      <p:sp>
        <p:nvSpPr>
          <p:cNvPr id="10" name="stage-chip-5"/>
          <p:cNvSpPr/>
          <p:nvPr/>
        </p:nvSpPr>
        <p:spPr>
          <a:xfrm>
            <a:off x="3017520" y="1417320"/>
            <a:ext cx="384048" cy="128016"/>
          </a:xfrm>
          <a:prstGeom prst="roundRect">
            <a:avLst>
              <a:gd name="adj" fmla="val 35714"/>
            </a:avLst>
          </a:prstGeom>
          <a:solidFill>
            <a:srgbClr val="00A86B"/>
          </a:solidFill>
          <a:ln w="6350">
            <a:solidFill>
              <a:srgbClr val="00A86B"/>
            </a:solidFill>
            <a:prstDash val="solid"/>
          </a:ln>
        </p:spPr>
      </p:sp>
      <p:sp>
        <p:nvSpPr>
          <p:cNvPr id="11" name="stage-chip-6"/>
          <p:cNvSpPr/>
          <p:nvPr/>
        </p:nvSpPr>
        <p:spPr>
          <a:xfrm>
            <a:off x="3493008" y="1417320"/>
            <a:ext cx="384048" cy="128016"/>
          </a:xfrm>
          <a:prstGeom prst="roundRect">
            <a:avLst>
              <a:gd name="adj" fmla="val 35714"/>
            </a:avLst>
          </a:prstGeom>
          <a:solidFill>
            <a:srgbClr val="00A86B"/>
          </a:solidFill>
          <a:ln w="6350">
            <a:solidFill>
              <a:srgbClr val="00A86B"/>
            </a:solidFill>
            <a:prstDash val="solid"/>
          </a:ln>
        </p:spPr>
      </p:sp>
      <p:sp>
        <p:nvSpPr>
          <p:cNvPr id="12" name="stage-chip-7"/>
          <p:cNvSpPr/>
          <p:nvPr/>
        </p:nvSpPr>
        <p:spPr>
          <a:xfrm>
            <a:off x="3968496" y="1417320"/>
            <a:ext cx="384048" cy="128016"/>
          </a:xfrm>
          <a:prstGeom prst="roundRect">
            <a:avLst>
              <a:gd name="adj" fmla="val 35714"/>
            </a:avLst>
          </a:prstGeom>
          <a:solidFill>
            <a:srgbClr val="00A86B"/>
          </a:solidFill>
          <a:ln w="6350">
            <a:solidFill>
              <a:srgbClr val="00A86B"/>
            </a:solidFill>
            <a:prstDash val="solid"/>
          </a:ln>
        </p:spPr>
      </p:sp>
      <p:sp>
        <p:nvSpPr>
          <p:cNvPr id="13" name="stage-chip-8"/>
          <p:cNvSpPr/>
          <p:nvPr/>
        </p:nvSpPr>
        <p:spPr>
          <a:xfrm>
            <a:off x="4443984" y="1417320"/>
            <a:ext cx="384048" cy="128016"/>
          </a:xfrm>
          <a:prstGeom prst="roundRect">
            <a:avLst>
              <a:gd name="adj" fmla="val 35714"/>
            </a:avLst>
          </a:prstGeom>
          <a:solidFill>
            <a:srgbClr val="00A86B"/>
          </a:solidFill>
          <a:ln w="6350">
            <a:solidFill>
              <a:srgbClr val="00A86B"/>
            </a:solidFill>
            <a:prstDash val="solid"/>
          </a:ln>
        </p:spPr>
      </p:sp>
      <p:sp>
        <p:nvSpPr>
          <p:cNvPr id="14" name="stage-chip-9"/>
          <p:cNvSpPr/>
          <p:nvPr/>
        </p:nvSpPr>
        <p:spPr>
          <a:xfrm>
            <a:off x="4919472" y="1417320"/>
            <a:ext cx="384048" cy="128016"/>
          </a:xfrm>
          <a:prstGeom prst="roundRect">
            <a:avLst>
              <a:gd name="adj" fmla="val 35714"/>
            </a:avLst>
          </a:prstGeom>
          <a:solidFill>
            <a:srgbClr val="00A86B"/>
          </a:solidFill>
          <a:ln w="6350">
            <a:solidFill>
              <a:srgbClr val="00A86B"/>
            </a:solidFill>
            <a:prstDash val="solid"/>
          </a:ln>
        </p:spPr>
      </p:sp>
      <p:sp>
        <p:nvSpPr>
          <p:cNvPr id="15" name="stage-chip-10"/>
          <p:cNvSpPr/>
          <p:nvPr/>
        </p:nvSpPr>
        <p:spPr>
          <a:xfrm>
            <a:off x="5394960" y="1417320"/>
            <a:ext cx="384048" cy="128016"/>
          </a:xfrm>
          <a:prstGeom prst="roundRect">
            <a:avLst>
              <a:gd name="adj" fmla="val 35714"/>
            </a:avLst>
          </a:prstGeom>
          <a:solidFill>
            <a:srgbClr val="00A86B"/>
          </a:solidFill>
          <a:ln w="6350">
            <a:solidFill>
              <a:srgbClr val="00A86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problem</a:t>
            </a:r>
            <a:endParaRPr lang="en-US" sz="3200" dirty="0"/>
          </a:p>
        </p:txBody>
      </p:sp>
      <p:sp>
        <p:nvSpPr>
          <p:cNvPr id="3" name="panel-1"/>
          <p:cNvSpPr/>
          <p:nvPr/>
        </p:nvSpPr>
        <p:spPr>
          <a:xfrm>
            <a:off x="640080" y="13716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6454F"/>
                </a:solidFill>
              </a:rPr>
              <a:t>Paper registers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10312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Attendance written on paper, keyed in later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 student learns their standing weeks afterwards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Eligibility disputes have no audit trail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Corrections are untraceable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4434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7263D"/>
                </a:solidFill>
              </a:rPr>
              <a:t>9–14 days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5029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9C"/>
                </a:solidFill>
              </a:rPr>
              <a:t>measured delay from mark to student visibility</a:t>
            </a:r>
            <a:endParaRPr lang="en-US" sz="1100" dirty="0"/>
          </a:p>
        </p:txBody>
      </p:sp>
      <p:sp>
        <p:nvSpPr>
          <p:cNvPr id="8" name="panel-2"/>
          <p:cNvSpPr/>
          <p:nvPr/>
        </p:nvSpPr>
        <p:spPr>
          <a:xfrm>
            <a:off x="6309360" y="1371600"/>
            <a:ext cx="5239512" cy="4206240"/>
          </a:xfrm>
          <a:prstGeom prst="roundRect">
            <a:avLst>
              <a:gd name="adj" fmla="val 1739"/>
            </a:avLst>
          </a:prstGeom>
          <a:solidFill>
            <a:srgbClr val="16191D"/>
          </a:solidFill>
          <a:ln w="6350">
            <a:solidFill>
              <a:srgbClr val="16191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1600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 system of record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1031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CEF"/>
                </a:solidFill>
              </a:rPr>
              <a:t>Faculty opens a session; students mark themselves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CEF"/>
                </a:solidFill>
              </a:rPr>
              <a:t>Closing records everyone who did not as absent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CEF"/>
                </a:solidFill>
              </a:rPr>
              <a:t>Every change attributed and timestamped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ECEF"/>
                </a:solidFill>
              </a:rPr>
              <a:t>Only extreme cases escalate to a conversation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44348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86B"/>
                </a:solidFill>
              </a:rPr>
              <a:t>Immediate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5029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9C"/>
                </a:solidFill>
              </a:rPr>
              <a:t>the student sees the record as it is written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technology stack</a:t>
            </a:r>
            <a:endParaRPr lang="en-US" sz="3200" dirty="0"/>
          </a:p>
        </p:txBody>
      </p:sp>
      <p:sp>
        <p:nvSpPr>
          <p:cNvPr id="3" name="panel-3"/>
          <p:cNvSpPr/>
          <p:nvPr/>
        </p:nvSpPr>
        <p:spPr>
          <a:xfrm>
            <a:off x="640080" y="132588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38074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C9B"/>
                </a:solidFill>
              </a:rPr>
              <a:t>Language &amp; framework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38074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Java 21 · Spring Boot 3.5.16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1380744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9C"/>
                </a:solidFill>
              </a:rPr>
              <a:t>One artefact: runs standalone or deploys to Tomcat</a:t>
            </a:r>
            <a:endParaRPr lang="en-US" sz="1100" dirty="0"/>
          </a:p>
        </p:txBody>
      </p:sp>
      <p:sp>
        <p:nvSpPr>
          <p:cNvPr id="7" name="panel-4"/>
          <p:cNvSpPr/>
          <p:nvPr/>
        </p:nvSpPr>
        <p:spPr>
          <a:xfrm>
            <a:off x="640080" y="2112264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16712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C9B"/>
                </a:solidFill>
              </a:rPr>
              <a:t>Web &amp; persistence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16712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Thymeleaf · Spring Data JPA · H2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16712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9C"/>
                </a:solidFill>
              </a:rPr>
              <a:t>Server-rendered, so there is one deployable to ship</a:t>
            </a:r>
            <a:endParaRPr lang="en-US" sz="1100" dirty="0"/>
          </a:p>
        </p:txBody>
      </p:sp>
      <p:sp>
        <p:nvSpPr>
          <p:cNvPr id="11" name="panel-5"/>
          <p:cNvSpPr/>
          <p:nvPr/>
        </p:nvSpPr>
        <p:spPr>
          <a:xfrm>
            <a:off x="640080" y="2898648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95351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C9B"/>
                </a:solidFill>
              </a:rPr>
              <a:t>Security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95351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Spring Security 6.5 · BCrypt · WebAuthn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295351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9C"/>
                </a:solidFill>
              </a:rPr>
              <a:t>Role rules, hashed passwords, passkey sign-in</a:t>
            </a:r>
            <a:endParaRPr lang="en-US" sz="1100" dirty="0"/>
          </a:p>
        </p:txBody>
      </p:sp>
      <p:sp>
        <p:nvSpPr>
          <p:cNvPr id="15" name="panel-6"/>
          <p:cNvSpPr/>
          <p:nvPr/>
        </p:nvSpPr>
        <p:spPr>
          <a:xfrm>
            <a:off x="640080" y="3685032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373989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C9B"/>
                </a:solidFill>
              </a:rPr>
              <a:t>Build &amp; test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373989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Maven · JUnit 5 · Selenium 4.50 · JaCoCo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3739896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9C"/>
                </a:solidFill>
              </a:rPr>
              <a:t>Unit, integration and browser levels in one reactor</a:t>
            </a:r>
            <a:endParaRPr lang="en-US" sz="1100" dirty="0"/>
          </a:p>
        </p:txBody>
      </p:sp>
      <p:sp>
        <p:nvSpPr>
          <p:cNvPr id="19" name="panel-7"/>
          <p:cNvSpPr/>
          <p:nvPr/>
        </p:nvSpPr>
        <p:spPr>
          <a:xfrm>
            <a:off x="640080" y="4471416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52628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C9B"/>
                </a:solidFill>
              </a:rPr>
              <a:t>Pipeline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452628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Jenkins LTS · Configuration as Code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452628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9C"/>
                </a:solidFill>
              </a:rPr>
              <a:t>The controller is rebuildable, not hand-clicked</a:t>
            </a:r>
            <a:endParaRPr lang="en-US" sz="1100" dirty="0"/>
          </a:p>
        </p:txBody>
      </p:sp>
      <p:sp>
        <p:nvSpPr>
          <p:cNvPr id="23" name="panel-8"/>
          <p:cNvSpPr/>
          <p:nvPr/>
        </p:nvSpPr>
        <p:spPr>
          <a:xfrm>
            <a:off x="640080" y="525780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531266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C9B"/>
                </a:solidFill>
              </a:rPr>
              <a:t>Runtime &amp; infra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566160" y="531266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Docker · registry:2 · Ansible · Puppet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589520" y="5312664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9C"/>
                </a:solidFill>
              </a:rPr>
              <a:t>Package the app, provision the host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743200"/>
            <a:ext cx="10908792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The pipeline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10908792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00A86B"/>
                </a:solidFill>
              </a:rPr>
              <a:t>Eleven stages from commit to a verified deployment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Eleven stages, one verdict</a:t>
            </a:r>
            <a:endParaRPr lang="en-US" sz="3200" dirty="0"/>
          </a:p>
        </p:txBody>
      </p:sp>
      <p:sp>
        <p:nvSpPr>
          <p:cNvPr id="3" name="pipeline-stage-1"/>
          <p:cNvSpPr/>
          <p:nvPr/>
        </p:nvSpPr>
        <p:spPr>
          <a:xfrm>
            <a:off x="640080" y="1554480"/>
            <a:ext cx="941832" cy="1371600"/>
          </a:xfrm>
          <a:prstGeom prst="roundRect">
            <a:avLst>
              <a:gd name="adj" fmla="val 7767"/>
            </a:avLst>
          </a:prstGeom>
          <a:solidFill>
            <a:srgbClr val="36454F"/>
          </a:solidFill>
          <a:ln w="12700">
            <a:solidFill>
              <a:srgbClr val="4A5A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64208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B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76656" y="20116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Checkout</a:t>
            </a:r>
            <a:endParaRPr lang="en-US" sz="1050" dirty="0"/>
          </a:p>
        </p:txBody>
      </p:sp>
      <p:sp>
        <p:nvSpPr>
          <p:cNvPr id="6" name="pipeline-stage-2"/>
          <p:cNvSpPr/>
          <p:nvPr/>
        </p:nvSpPr>
        <p:spPr>
          <a:xfrm>
            <a:off x="1664208" y="1554480"/>
            <a:ext cx="941832" cy="1371600"/>
          </a:xfrm>
          <a:prstGeom prst="roundRect">
            <a:avLst>
              <a:gd name="adj" fmla="val 7767"/>
            </a:avLst>
          </a:prstGeom>
          <a:solidFill>
            <a:srgbClr val="36454F"/>
          </a:solidFill>
          <a:ln w="12700">
            <a:solidFill>
              <a:srgbClr val="4A5A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64208" y="1664208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B"/>
                </a:solidFill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700784" y="20116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Build</a:t>
            </a:r>
            <a:endParaRPr lang="en-US" sz="1050" dirty="0"/>
          </a:p>
        </p:txBody>
      </p:sp>
      <p:sp>
        <p:nvSpPr>
          <p:cNvPr id="9" name="pipeline-stage-3"/>
          <p:cNvSpPr/>
          <p:nvPr/>
        </p:nvSpPr>
        <p:spPr>
          <a:xfrm>
            <a:off x="2688336" y="1554480"/>
            <a:ext cx="941832" cy="1371600"/>
          </a:xfrm>
          <a:prstGeom prst="roundRect">
            <a:avLst>
              <a:gd name="adj" fmla="val 7767"/>
            </a:avLst>
          </a:prstGeom>
          <a:solidFill>
            <a:srgbClr val="36454F"/>
          </a:solidFill>
          <a:ln w="12700">
            <a:solidFill>
              <a:srgbClr val="4A5A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88336" y="1664208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B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724912" y="20116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Unit test</a:t>
            </a:r>
            <a:endParaRPr lang="en-US" sz="1050" dirty="0"/>
          </a:p>
        </p:txBody>
      </p:sp>
      <p:sp>
        <p:nvSpPr>
          <p:cNvPr id="12" name="pipeline-stage-4"/>
          <p:cNvSpPr/>
          <p:nvPr/>
        </p:nvSpPr>
        <p:spPr>
          <a:xfrm>
            <a:off x="3712464" y="1554480"/>
            <a:ext cx="941832" cy="1371600"/>
          </a:xfrm>
          <a:prstGeom prst="roundRect">
            <a:avLst>
              <a:gd name="adj" fmla="val 7767"/>
            </a:avLst>
          </a:prstGeom>
          <a:solidFill>
            <a:srgbClr val="36454F"/>
          </a:solidFill>
          <a:ln w="12700">
            <a:solidFill>
              <a:srgbClr val="4A5A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12464" y="1664208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B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20116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Package</a:t>
            </a:r>
            <a:endParaRPr lang="en-US" sz="1050" dirty="0"/>
          </a:p>
        </p:txBody>
      </p:sp>
      <p:sp>
        <p:nvSpPr>
          <p:cNvPr id="15" name="pipeline-stage-5"/>
          <p:cNvSpPr/>
          <p:nvPr/>
        </p:nvSpPr>
        <p:spPr>
          <a:xfrm>
            <a:off x="4736592" y="1554480"/>
            <a:ext cx="941832" cy="1371600"/>
          </a:xfrm>
          <a:prstGeom prst="roundRect">
            <a:avLst>
              <a:gd name="adj" fmla="val 7767"/>
            </a:avLst>
          </a:prstGeom>
          <a:solidFill>
            <a:srgbClr val="36454F"/>
          </a:solidFill>
          <a:ln w="12700">
            <a:solidFill>
              <a:srgbClr val="4A5A6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36592" y="1664208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B"/>
                </a:solidFill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773168" y="20116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Integration</a:t>
            </a:r>
            <a:endParaRPr lang="en-US" sz="1050" dirty="0"/>
          </a:p>
        </p:txBody>
      </p:sp>
      <p:sp>
        <p:nvSpPr>
          <p:cNvPr id="18" name="pipeline-stage-6"/>
          <p:cNvSpPr/>
          <p:nvPr/>
        </p:nvSpPr>
        <p:spPr>
          <a:xfrm>
            <a:off x="5760720" y="1554480"/>
            <a:ext cx="941832" cy="1371600"/>
          </a:xfrm>
          <a:prstGeom prst="roundRect">
            <a:avLst>
              <a:gd name="adj" fmla="val 7767"/>
            </a:avLst>
          </a:prstGeom>
          <a:solidFill>
            <a:srgbClr val="E9A317"/>
          </a:solidFill>
          <a:ln w="12700">
            <a:solidFill>
              <a:srgbClr val="E9A3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0720" y="1664208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D"/>
                </a:solidFill>
              </a:rPr>
              <a:t>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797296" y="20116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191D"/>
                </a:solidFill>
              </a:rPr>
              <a:t>Quality gate</a:t>
            </a:r>
            <a:endParaRPr lang="en-US" sz="1050" dirty="0"/>
          </a:p>
        </p:txBody>
      </p:sp>
      <p:sp>
        <p:nvSpPr>
          <p:cNvPr id="21" name="pipeline-stage-7"/>
          <p:cNvSpPr/>
          <p:nvPr/>
        </p:nvSpPr>
        <p:spPr>
          <a:xfrm>
            <a:off x="6784848" y="1554480"/>
            <a:ext cx="941832" cy="1371600"/>
          </a:xfrm>
          <a:prstGeom prst="roundRect">
            <a:avLst>
              <a:gd name="adj" fmla="val 7767"/>
            </a:avLst>
          </a:prstGeom>
          <a:solidFill>
            <a:srgbClr val="36454F"/>
          </a:solidFill>
          <a:ln w="12700">
            <a:solidFill>
              <a:srgbClr val="4A5A6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84848" y="1664208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B"/>
                </a:solidFill>
              </a:rPr>
              <a:t>7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21424" y="20116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Build image</a:t>
            </a:r>
            <a:endParaRPr lang="en-US" sz="1050" dirty="0"/>
          </a:p>
        </p:txBody>
      </p:sp>
      <p:sp>
        <p:nvSpPr>
          <p:cNvPr id="24" name="pipeline-stage-8"/>
          <p:cNvSpPr/>
          <p:nvPr/>
        </p:nvSpPr>
        <p:spPr>
          <a:xfrm>
            <a:off x="7808976" y="1554480"/>
            <a:ext cx="941832" cy="1371600"/>
          </a:xfrm>
          <a:prstGeom prst="roundRect">
            <a:avLst>
              <a:gd name="adj" fmla="val 7767"/>
            </a:avLst>
          </a:prstGeom>
          <a:solidFill>
            <a:srgbClr val="36454F"/>
          </a:solidFill>
          <a:ln w="12700">
            <a:solidFill>
              <a:srgbClr val="4A5A6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08976" y="1664208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B"/>
                </a:solidFill>
              </a:rPr>
              <a:t>8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845552" y="20116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Deploy container</a:t>
            </a:r>
            <a:endParaRPr lang="en-US" sz="1050" dirty="0"/>
          </a:p>
        </p:txBody>
      </p:sp>
      <p:sp>
        <p:nvSpPr>
          <p:cNvPr id="27" name="pipeline-stage-9"/>
          <p:cNvSpPr/>
          <p:nvPr/>
        </p:nvSpPr>
        <p:spPr>
          <a:xfrm>
            <a:off x="8833104" y="1554480"/>
            <a:ext cx="941832" cy="1371600"/>
          </a:xfrm>
          <a:prstGeom prst="roundRect">
            <a:avLst>
              <a:gd name="adj" fmla="val 7767"/>
            </a:avLst>
          </a:prstGeom>
          <a:solidFill>
            <a:srgbClr val="36454F"/>
          </a:solidFill>
          <a:ln w="12700">
            <a:solidFill>
              <a:srgbClr val="4A5A6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833104" y="1664208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B"/>
                </a:solidFill>
              </a:rPr>
              <a:t>9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869680" y="20116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Deploy Tomcat</a:t>
            </a:r>
            <a:endParaRPr lang="en-US" sz="1050" dirty="0"/>
          </a:p>
        </p:txBody>
      </p:sp>
      <p:sp>
        <p:nvSpPr>
          <p:cNvPr id="30" name="pipeline-stage-10"/>
          <p:cNvSpPr/>
          <p:nvPr/>
        </p:nvSpPr>
        <p:spPr>
          <a:xfrm>
            <a:off x="9857232" y="1554480"/>
            <a:ext cx="941832" cy="1371600"/>
          </a:xfrm>
          <a:prstGeom prst="roundRect">
            <a:avLst>
              <a:gd name="adj" fmla="val 7767"/>
            </a:avLst>
          </a:prstGeom>
          <a:solidFill>
            <a:srgbClr val="36454F"/>
          </a:solidFill>
          <a:ln w="12700">
            <a:solidFill>
              <a:srgbClr val="4A5A6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857232" y="1664208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B"/>
                </a:solidFill>
              </a:rPr>
              <a:t>10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893808" y="20116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Verify</a:t>
            </a:r>
            <a:endParaRPr lang="en-US" sz="1050" dirty="0"/>
          </a:p>
        </p:txBody>
      </p:sp>
      <p:sp>
        <p:nvSpPr>
          <p:cNvPr id="33" name="pipeline-stage-11"/>
          <p:cNvSpPr/>
          <p:nvPr/>
        </p:nvSpPr>
        <p:spPr>
          <a:xfrm>
            <a:off x="10881360" y="1554480"/>
            <a:ext cx="941832" cy="1371600"/>
          </a:xfrm>
          <a:prstGeom prst="roundRect">
            <a:avLst>
              <a:gd name="adj" fmla="val 7767"/>
            </a:avLst>
          </a:prstGeom>
          <a:solidFill>
            <a:srgbClr val="36454F"/>
          </a:solidFill>
          <a:ln w="12700">
            <a:solidFill>
              <a:srgbClr val="4A5A6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881360" y="1664208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B"/>
                </a:solidFill>
              </a:rPr>
              <a:t>11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917936" y="20116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Post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035040" y="2971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A317"/>
                </a:solidFill>
              </a:rPr>
              <a:t>▲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329184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gate sits at stage 6, before the image is built.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</a:rPr>
              <a:t>If a browser journey fails, no image is published and nothing deploys. A check that runs after deployment can only report what users already have.</a:t>
            </a:r>
            <a:endParaRPr lang="en-US" sz="1400" dirty="0"/>
          </a:p>
        </p:txBody>
      </p:sp>
      <p:sp>
        <p:nvSpPr>
          <p:cNvPr id="38" name="panel-9"/>
          <p:cNvSpPr/>
          <p:nvPr/>
        </p:nvSpPr>
        <p:spPr>
          <a:xfrm>
            <a:off x="7772400" y="3246120"/>
            <a:ext cx="3776472" cy="219456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 w="6350">
            <a:solidFill>
              <a:srgbClr val="1E232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46720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6B"/>
                </a:solidFill>
              </a:rPr>
              <a:t>Tested against the same artefact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8046720" y="384048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4BE"/>
                </a:solidFill>
              </a:rPr>
              <a:t>The gate starts a throwaway container from the WAR just packaged — the one that gets deployed if it passes. Testing a different build would make the gate decorative.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each tool is for</a:t>
            </a:r>
            <a:endParaRPr lang="en-US" sz="3200" dirty="0"/>
          </a:p>
        </p:txBody>
      </p:sp>
      <p:sp>
        <p:nvSpPr>
          <p:cNvPr id="3" name="panel-10"/>
          <p:cNvSpPr/>
          <p:nvPr/>
        </p:nvSpPr>
        <p:spPr>
          <a:xfrm>
            <a:off x="640080" y="13716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4" name="tool-dot-0"/>
          <p:cNvSpPr/>
          <p:nvPr/>
        </p:nvSpPr>
        <p:spPr>
          <a:xfrm>
            <a:off x="896112" y="1627632"/>
            <a:ext cx="457200" cy="457200"/>
          </a:xfrm>
          <a:prstGeom prst="ellipse">
            <a:avLst/>
          </a:prstGeom>
          <a:solidFill>
            <a:srgbClr val="0E8C9B"/>
          </a:solidFill>
          <a:ln w="12700">
            <a:solidFill>
              <a:srgbClr val="0E8C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08760" y="164592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Docker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402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</a:rPr>
              <a:t>Packages the app with its runtime, and provides the lab: eight containers standing in for machines.</a:t>
            </a:r>
            <a:endParaRPr lang="en-US" sz="1150" dirty="0"/>
          </a:p>
        </p:txBody>
      </p:sp>
      <p:sp>
        <p:nvSpPr>
          <p:cNvPr id="7" name="panel-11"/>
          <p:cNvSpPr/>
          <p:nvPr/>
        </p:nvSpPr>
        <p:spPr>
          <a:xfrm>
            <a:off x="4370832" y="13716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8" name="tool-dot-1"/>
          <p:cNvSpPr/>
          <p:nvPr/>
        </p:nvSpPr>
        <p:spPr>
          <a:xfrm>
            <a:off x="4626864" y="1627632"/>
            <a:ext cx="457200" cy="45720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39512" y="164592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Jenkins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26864" y="22402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</a:rPr>
              <a:t>Decides when a change ships. Eleven stages, defined in a Jenkinsfile that is versioned with the code.</a:t>
            </a:r>
            <a:endParaRPr lang="en-US" sz="1150" dirty="0"/>
          </a:p>
        </p:txBody>
      </p:sp>
      <p:sp>
        <p:nvSpPr>
          <p:cNvPr id="11" name="panel-12"/>
          <p:cNvSpPr/>
          <p:nvPr/>
        </p:nvSpPr>
        <p:spPr>
          <a:xfrm>
            <a:off x="8101584" y="13716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12" name="tool-dot-2"/>
          <p:cNvSpPr/>
          <p:nvPr/>
        </p:nvSpPr>
        <p:spPr>
          <a:xfrm>
            <a:off x="8357616" y="1627632"/>
            <a:ext cx="457200" cy="457200"/>
          </a:xfrm>
          <a:prstGeom prst="ellipse">
            <a:avLst/>
          </a:prstGeom>
          <a:solidFill>
            <a:srgbClr val="E9A317"/>
          </a:solidFill>
          <a:ln w="12700">
            <a:solidFill>
              <a:srgbClr val="E9A31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70264" y="164592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Selenium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57616" y="22402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</a:rPr>
              <a:t>Drives a real browser through real tasks, so the gate tests the page a human sees.</a:t>
            </a:r>
            <a:endParaRPr lang="en-US" sz="1150" dirty="0"/>
          </a:p>
        </p:txBody>
      </p:sp>
      <p:sp>
        <p:nvSpPr>
          <p:cNvPr id="15" name="panel-13"/>
          <p:cNvSpPr/>
          <p:nvPr/>
        </p:nvSpPr>
        <p:spPr>
          <a:xfrm>
            <a:off x="640080" y="36118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16" name="tool-dot-3"/>
          <p:cNvSpPr/>
          <p:nvPr/>
        </p:nvSpPr>
        <p:spPr>
          <a:xfrm>
            <a:off x="896112" y="3867912"/>
            <a:ext cx="457200" cy="45720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08760" y="388620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Ansible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44805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</a:rPr>
              <a:t>Declares the state a host should be in and converges it. Agentless, over SSH.</a:t>
            </a:r>
            <a:endParaRPr lang="en-US" sz="1150" dirty="0"/>
          </a:p>
        </p:txBody>
      </p:sp>
      <p:sp>
        <p:nvSpPr>
          <p:cNvPr id="19" name="panel-14"/>
          <p:cNvSpPr/>
          <p:nvPr/>
        </p:nvSpPr>
        <p:spPr>
          <a:xfrm>
            <a:off x="4370832" y="36118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20" name="tool-dot-4"/>
          <p:cNvSpPr/>
          <p:nvPr/>
        </p:nvSpPr>
        <p:spPr>
          <a:xfrm>
            <a:off x="4626864" y="3867912"/>
            <a:ext cx="457200" cy="457200"/>
          </a:xfrm>
          <a:prstGeom prst="ellipse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39512" y="388620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Puppet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626864" y="44805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</a:rPr>
              <a:t>The same job, masterless, with its own declarative language. Both are demonstrated.</a:t>
            </a:r>
            <a:endParaRPr lang="en-US" sz="1150" dirty="0"/>
          </a:p>
        </p:txBody>
      </p:sp>
      <p:sp>
        <p:nvSpPr>
          <p:cNvPr id="23" name="panel-15"/>
          <p:cNvSpPr/>
          <p:nvPr/>
        </p:nvSpPr>
        <p:spPr>
          <a:xfrm>
            <a:off x="8101584" y="36118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24" name="tool-dot-5"/>
          <p:cNvSpPr/>
          <p:nvPr/>
        </p:nvSpPr>
        <p:spPr>
          <a:xfrm>
            <a:off x="8357616" y="3867912"/>
            <a:ext cx="457200" cy="457200"/>
          </a:xfrm>
          <a:prstGeom prst="ellipse">
            <a:avLst/>
          </a:prstGeom>
          <a:solidFill>
            <a:srgbClr val="7A8B9C"/>
          </a:solidFill>
          <a:ln w="12700">
            <a:solidFill>
              <a:srgbClr val="7A8B9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70264" y="388620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Maven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357616" y="44805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</a:rPr>
              <a:t>One command compiles, tests and packages, so the pipeline needs no bespoke build steps.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743200"/>
            <a:ext cx="10908792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Verification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49040"/>
            <a:ext cx="10908792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00A86B"/>
                </a:solidFill>
              </a:rPr>
              <a:t>129 tests at three levels, and what they caught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Three levels, 129 tests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A86B"/>
                </a:solidFill>
              </a:rPr>
              <a:t>129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305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B9C"/>
                </a:solidFill>
              </a:rPr>
              <a:t>tests in the suite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325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E8C9B"/>
                </a:solidFill>
              </a:rPr>
              <a:t>67.9%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21305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B9C"/>
                </a:solidFill>
              </a:rPr>
              <a:t>line coverage (JaCoCo)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325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E8C9B"/>
                </a:solidFill>
              </a:rPr>
              <a:t>85.8%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305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B9C"/>
                </a:solidFill>
              </a:rPr>
              <a:t>coverage of the service layer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418320" y="1325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A86B"/>
                </a:solidFill>
              </a:rPr>
              <a:t>0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9418320" y="21305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B9C"/>
                </a:solidFill>
              </a:rPr>
              <a:t>failing</a:t>
            </a:r>
            <a:endParaRPr lang="en-US" sz="1200" dirty="0"/>
          </a:p>
        </p:txBody>
      </p:sp>
      <p:sp>
        <p:nvSpPr>
          <p:cNvPr id="11" name="level-0"/>
          <p:cNvSpPr/>
          <p:nvPr/>
        </p:nvSpPr>
        <p:spPr>
          <a:xfrm>
            <a:off x="640080" y="301752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E9A317"/>
          </a:solidFill>
          <a:ln w="12700">
            <a:solidFill>
              <a:srgbClr val="E9A31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01752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19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0175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Selenium journeys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160520" y="301752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B9C"/>
                </a:solidFill>
              </a:rPr>
              <a:t>A real browser completes real tasks across roles</a:t>
            </a:r>
            <a:endParaRPr lang="en-US" sz="1150" dirty="0"/>
          </a:p>
        </p:txBody>
      </p:sp>
      <p:sp>
        <p:nvSpPr>
          <p:cNvPr id="15" name="level-1"/>
          <p:cNvSpPr/>
          <p:nvPr/>
        </p:nvSpPr>
        <p:spPr>
          <a:xfrm>
            <a:off x="640080" y="4041648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0E8C9B"/>
          </a:solidFill>
          <a:ln w="12700">
            <a:solidFill>
              <a:srgbClr val="0E8C9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041648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7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04164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Integration tests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4041648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B9C"/>
                </a:solidFill>
              </a:rPr>
              <a:t>Web layer and persistence together, through MockMvc</a:t>
            </a:r>
            <a:endParaRPr lang="en-US" sz="1150" dirty="0"/>
          </a:p>
        </p:txBody>
      </p:sp>
      <p:sp>
        <p:nvSpPr>
          <p:cNvPr id="19" name="level-2"/>
          <p:cNvSpPr/>
          <p:nvPr/>
        </p:nvSpPr>
        <p:spPr>
          <a:xfrm>
            <a:off x="640080" y="5065776"/>
            <a:ext cx="6949440" cy="868680"/>
          </a:xfrm>
          <a:prstGeom prst="roundRect">
            <a:avLst>
              <a:gd name="adj" fmla="val 8421"/>
            </a:avLst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5065776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103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1828800" y="5065776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Unit tests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818120" y="5065776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B9C"/>
                </a:solidFill>
              </a:rPr>
              <a:t>The business rules: percentages, thresholds, case tiers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the tests actually caught</a:t>
            </a:r>
            <a:endParaRPr lang="en-US" sz="3200" dirty="0"/>
          </a:p>
        </p:txBody>
      </p:sp>
      <p:sp>
        <p:nvSpPr>
          <p:cNvPr id="3" name="panel-16"/>
          <p:cNvSpPr/>
          <p:nvPr/>
        </p:nvSpPr>
        <p:spPr>
          <a:xfrm>
            <a:off x="640080" y="1371600"/>
            <a:ext cx="10908792" cy="1417320"/>
          </a:xfrm>
          <a:prstGeom prst="roundRect">
            <a:avLst>
              <a:gd name="adj" fmla="val 5161"/>
            </a:avLst>
          </a:prstGeom>
          <a:solidFill>
            <a:srgbClr val="1E2329"/>
          </a:solidFill>
          <a:ln w="6350">
            <a:solidFill>
              <a:srgbClr val="1E2329"/>
            </a:solidFill>
            <a:prstDash val="solid"/>
          </a:ln>
        </p:spPr>
      </p:sp>
      <p:sp>
        <p:nvSpPr>
          <p:cNvPr id="4" name="bug-dot-0"/>
          <p:cNvSpPr/>
          <p:nvPr/>
        </p:nvSpPr>
        <p:spPr>
          <a:xfrm>
            <a:off x="914400" y="1847088"/>
            <a:ext cx="457200" cy="45720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5361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roster rendered blank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3852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4BE"/>
                </a:solidFill>
              </a:rPr>
              <a:t>A template read a property that no longer existed. Thymeleaf treats a missing property as false, so the page silently hid its own Stop and Strike buttons.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153619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86B"/>
                </a:solidFill>
              </a:rPr>
              <a:t>Passed every unit test. Only a browser saw it.</a:t>
            </a:r>
            <a:endParaRPr lang="en-US" sz="1200" dirty="0"/>
          </a:p>
        </p:txBody>
      </p:sp>
      <p:sp>
        <p:nvSpPr>
          <p:cNvPr id="9" name="panel-17"/>
          <p:cNvSpPr/>
          <p:nvPr/>
        </p:nvSpPr>
        <p:spPr>
          <a:xfrm>
            <a:off x="640080" y="2944368"/>
            <a:ext cx="10908792" cy="1417320"/>
          </a:xfrm>
          <a:prstGeom prst="roundRect">
            <a:avLst>
              <a:gd name="adj" fmla="val 5161"/>
            </a:avLst>
          </a:prstGeom>
          <a:solidFill>
            <a:srgbClr val="1E2329"/>
          </a:solidFill>
          <a:ln w="6350">
            <a:solidFill>
              <a:srgbClr val="1E2329"/>
            </a:solidFill>
            <a:prstDash val="solid"/>
          </a:ln>
        </p:spPr>
      </p:sp>
      <p:sp>
        <p:nvSpPr>
          <p:cNvPr id="10" name="bug-dot-1"/>
          <p:cNvSpPr/>
          <p:nvPr/>
        </p:nvSpPr>
        <p:spPr>
          <a:xfrm>
            <a:off x="914400" y="3419856"/>
            <a:ext cx="457200" cy="45720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1089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 promise the code did not keep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511296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4BE"/>
                </a:solidFill>
              </a:rPr>
              <a:t>The page said an override was "logged against your name"; the code recorded only the role, not the person.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31089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86B"/>
                </a:solidFill>
              </a:rPr>
              <a:t>Caught by a test asserting the attribution.</a:t>
            </a:r>
            <a:endParaRPr lang="en-US" sz="1200" dirty="0"/>
          </a:p>
        </p:txBody>
      </p:sp>
      <p:sp>
        <p:nvSpPr>
          <p:cNvPr id="15" name="panel-18"/>
          <p:cNvSpPr/>
          <p:nvPr/>
        </p:nvSpPr>
        <p:spPr>
          <a:xfrm>
            <a:off x="640080" y="4517136"/>
            <a:ext cx="10908792" cy="1417320"/>
          </a:xfrm>
          <a:prstGeom prst="roundRect">
            <a:avLst>
              <a:gd name="adj" fmla="val 5161"/>
            </a:avLst>
          </a:prstGeom>
          <a:solidFill>
            <a:srgbClr val="1E2329"/>
          </a:solidFill>
          <a:ln w="6350">
            <a:solidFill>
              <a:srgbClr val="1E2329"/>
            </a:solidFill>
            <a:prstDash val="solid"/>
          </a:ln>
        </p:spPr>
      </p:sp>
      <p:sp>
        <p:nvSpPr>
          <p:cNvPr id="16" name="bug-dot-2"/>
          <p:cNvSpPr/>
          <p:nvPr/>
        </p:nvSpPr>
        <p:spPr>
          <a:xfrm>
            <a:off x="914400" y="4992624"/>
            <a:ext cx="457200" cy="45720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992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68172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An escalated case vanished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5084064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4BE"/>
                </a:solidFill>
              </a:rPr>
              <a:t>The dashboard counted open cases by listing statuses by hand, and ESCALATED was added later.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468172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86B"/>
                </a:solidFill>
              </a:rPr>
              <a:t>Caught by counting after an escalation.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9A317"/>
                </a:solidFill>
              </a:rPr>
              <a:t>None of these would fail a compile. None would be obvious in a demonstration.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Coverage, read honestly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6400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anel-19"/>
          <p:cNvSpPr/>
          <p:nvPr/>
        </p:nvSpPr>
        <p:spPr>
          <a:xfrm>
            <a:off x="7406640" y="1371600"/>
            <a:ext cx="4142232" cy="4206240"/>
          </a:xfrm>
          <a:prstGeom prst="roundRect">
            <a:avLst>
              <a:gd name="adj" fmla="val 1766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680960" y="1600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</a:rPr>
              <a:t>The figure excludes 19 tests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1031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</a:rPr>
              <a:t>Browser journeys drive a container in a separate JVM, which the coverage agent is not attached to.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</a:rPr>
              <a:t>That is why web reads 27.3% while both its controllers are exercised end to end by journeys J3 and J6.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</a:rPr>
              <a:t>Branch coverage is 49.5% — the weakest figure, and not explained away.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One artefact, promoted not rebuilt</a:t>
            </a:r>
            <a:endParaRPr lang="en-US" sz="3200" dirty="0"/>
          </a:p>
        </p:txBody>
      </p:sp>
      <p:sp>
        <p:nvSpPr>
          <p:cNvPr id="3" name="panel-20"/>
          <p:cNvSpPr/>
          <p:nvPr/>
        </p:nvSpPr>
        <p:spPr>
          <a:xfrm>
            <a:off x="640080" y="14630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4" name="flow-dot-0"/>
          <p:cNvSpPr/>
          <p:nvPr/>
        </p:nvSpPr>
        <p:spPr>
          <a:xfrm>
            <a:off x="1316736" y="1627632"/>
            <a:ext cx="274320" cy="274320"/>
          </a:xfrm>
          <a:prstGeom prst="ellipse">
            <a:avLst/>
          </a:prstGeom>
          <a:solidFill>
            <a:srgbClr val="7A8B9C"/>
          </a:solidFill>
          <a:ln w="12700">
            <a:solidFill>
              <a:srgbClr val="7A8B9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Source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9C"/>
                </a:solidFill>
              </a:rPr>
              <a:t>commit 6be7e00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267712" y="1463040"/>
            <a:ext cx="237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8B9C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panel-21"/>
          <p:cNvSpPr/>
          <p:nvPr/>
        </p:nvSpPr>
        <p:spPr>
          <a:xfrm>
            <a:off x="2505456" y="14630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9" name="flow-dot-1"/>
          <p:cNvSpPr/>
          <p:nvPr/>
        </p:nvSpPr>
        <p:spPr>
          <a:xfrm>
            <a:off x="3182112" y="1627632"/>
            <a:ext cx="274320" cy="274320"/>
          </a:xfrm>
          <a:prstGeom prst="ellipse">
            <a:avLst/>
          </a:prstGeom>
          <a:solidFill>
            <a:srgbClr val="0E8C9B"/>
          </a:solidFill>
          <a:ln w="12700">
            <a:solidFill>
              <a:srgbClr val="0E8C9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05456" y="196596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Build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05456" y="22860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9C"/>
                </a:solidFill>
              </a:rPr>
              <a:t>attendance.war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133088" y="1463040"/>
            <a:ext cx="237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8B9C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panel-22"/>
          <p:cNvSpPr/>
          <p:nvPr/>
        </p:nvSpPr>
        <p:spPr>
          <a:xfrm>
            <a:off x="4370832" y="14630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14" name="flow-dot-2"/>
          <p:cNvSpPr/>
          <p:nvPr/>
        </p:nvSpPr>
        <p:spPr>
          <a:xfrm>
            <a:off x="5047488" y="1627632"/>
            <a:ext cx="274320" cy="27432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70832" y="196596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Image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370832" y="22860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9C"/>
                </a:solidFill>
              </a:rPr>
              <a:t>1.0.19-6be7e00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998464" y="1463040"/>
            <a:ext cx="237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8B9C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panel-23"/>
          <p:cNvSpPr/>
          <p:nvPr/>
        </p:nvSpPr>
        <p:spPr>
          <a:xfrm>
            <a:off x="6236208" y="14630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19" name="flow-dot-3"/>
          <p:cNvSpPr/>
          <p:nvPr/>
        </p:nvSpPr>
        <p:spPr>
          <a:xfrm>
            <a:off x="6912864" y="1627632"/>
            <a:ext cx="274320" cy="27432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6208" y="196596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Registry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236208" y="22860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9C"/>
                </a:solidFill>
              </a:rPr>
              <a:t>16 tags held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1463040"/>
            <a:ext cx="237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8B9C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panel-24"/>
          <p:cNvSpPr/>
          <p:nvPr/>
        </p:nvSpPr>
        <p:spPr>
          <a:xfrm>
            <a:off x="8101584" y="14630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24" name="flow-dot-4"/>
          <p:cNvSpPr/>
          <p:nvPr/>
        </p:nvSpPr>
        <p:spPr>
          <a:xfrm>
            <a:off x="8778240" y="1627632"/>
            <a:ext cx="274320" cy="274320"/>
          </a:xfrm>
          <a:prstGeom prst="ellipse">
            <a:avLst/>
          </a:prstGeom>
          <a:solidFill>
            <a:srgbClr val="E9A317"/>
          </a:solidFill>
          <a:ln w="12700">
            <a:solidFill>
              <a:srgbClr val="E9A31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01584" y="196596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Staging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101584" y="22860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9C"/>
                </a:solidFill>
              </a:rPr>
              <a:t>:8100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729216" y="1463040"/>
            <a:ext cx="237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8B9C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panel-25"/>
          <p:cNvSpPr/>
          <p:nvPr/>
        </p:nvSpPr>
        <p:spPr>
          <a:xfrm>
            <a:off x="9966960" y="14630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29" name="flow-dot-5"/>
          <p:cNvSpPr/>
          <p:nvPr/>
        </p:nvSpPr>
        <p:spPr>
          <a:xfrm>
            <a:off x="10643616" y="1627632"/>
            <a:ext cx="274320" cy="27432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966960" y="196596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Production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966960" y="228600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B9C"/>
                </a:solidFill>
              </a:rPr>
              <a:t>:8101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32004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Why the version tag matters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365760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</a:rPr>
              <a:t>Tags are build number plus commit: unique, and traceable to a line of code.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</a:rPr>
              <a:t>Never only :latest — a tag that moves cannot be rolled back to.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</a:rPr>
              <a:t>Rollback redeploys the previous tag, so recovery is a minute, not a rebuild.</a:t>
            </a:r>
            <a:endParaRPr lang="en-US" sz="1300" dirty="0"/>
          </a:p>
        </p:txBody>
      </p:sp>
      <p:sp>
        <p:nvSpPr>
          <p:cNvPr id="34" name="panel-26"/>
          <p:cNvSpPr/>
          <p:nvPr/>
        </p:nvSpPr>
        <p:spPr>
          <a:xfrm>
            <a:off x="6309360" y="3200400"/>
            <a:ext cx="5239512" cy="2194560"/>
          </a:xfrm>
          <a:prstGeom prst="roundRect">
            <a:avLst>
              <a:gd name="adj" fmla="val 3333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83680" y="34015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C9B"/>
                </a:solidFill>
              </a:rPr>
              <a:t>The same image in both environments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0" y="384048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</a:rPr>
              <a:t>Nothing is rebuilt between staging and production. That is what lets "it passed in staging" mean something: the thing that passed is the thing that ships.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Configuration management and idempotence</a:t>
            </a:r>
            <a:endParaRPr lang="en-US" sz="3200" dirty="0"/>
          </a:p>
        </p:txBody>
      </p:sp>
      <p:sp>
        <p:nvSpPr>
          <p:cNvPr id="3" name="panel-27"/>
          <p:cNvSpPr/>
          <p:nvPr/>
        </p:nvSpPr>
        <p:spPr>
          <a:xfrm>
            <a:off x="640080" y="13716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57276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</a:rPr>
              <a:t>Ansible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0116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</a:rPr>
              <a:t>Four roles — common, java, nginx, attendance_app — take a node from bare to serving the application. Agentless, over SSH.</a:t>
            </a:r>
            <a:endParaRPr lang="en-US" sz="1300" dirty="0"/>
          </a:p>
        </p:txBody>
      </p:sp>
      <p:sp>
        <p:nvSpPr>
          <p:cNvPr id="6" name="panel-28"/>
          <p:cNvSpPr/>
          <p:nvPr/>
        </p:nvSpPr>
        <p:spPr>
          <a:xfrm>
            <a:off x="6309360" y="1371600"/>
            <a:ext cx="5239512" cy="2286000"/>
          </a:xfrm>
          <a:prstGeom prst="roundRect">
            <a:avLst>
              <a:gd name="adj" fmla="val 3200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0" y="157276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6454F"/>
                </a:solidFill>
              </a:rPr>
              <a:t>Puppet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01168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</a:rPr>
              <a:t>A masterless module applied with puppet apply: install, config, deploy and service manifests, with templates for the unit file, nginx and log rotation.</a:t>
            </a:r>
            <a:endParaRPr lang="en-US" sz="1300" dirty="0"/>
          </a:p>
        </p:txBody>
      </p:sp>
      <p:sp>
        <p:nvSpPr>
          <p:cNvPr id="9" name="panel-29"/>
          <p:cNvSpPr/>
          <p:nvPr/>
        </p:nvSpPr>
        <p:spPr>
          <a:xfrm>
            <a:off x="640080" y="3840480"/>
            <a:ext cx="10908792" cy="1737360"/>
          </a:xfrm>
          <a:prstGeom prst="roundRect">
            <a:avLst>
              <a:gd name="adj" fmla="val 4211"/>
            </a:avLst>
          </a:prstGeom>
          <a:solidFill>
            <a:srgbClr val="16191D"/>
          </a:solidFill>
          <a:ln w="6350">
            <a:solidFill>
              <a:srgbClr val="16191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04164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6B"/>
                </a:solidFill>
              </a:rPr>
              <a:t>Idempotence is the property that matters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5262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</a:rPr>
              <a:t>You do not say "install Java"; you declare "Java 21 is present". A first run installs it. A second changes nothing. A run against a node somebody has altered corrects the drift. Without it, re-running is a risk — so nobody re-runs, and the servers drift apart.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Results</a:t>
            </a:r>
            <a:endParaRPr lang="en-US" sz="3200" dirty="0"/>
          </a:p>
        </p:txBody>
      </p:sp>
      <p:sp>
        <p:nvSpPr>
          <p:cNvPr id="3" name="panel-30"/>
          <p:cNvSpPr/>
          <p:nvPr/>
        </p:nvSpPr>
        <p:spPr>
          <a:xfrm>
            <a:off x="640080" y="14630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1E2329"/>
          </a:solidFill>
          <a:ln w="6350">
            <a:solidFill>
              <a:srgbClr val="1E232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642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86B"/>
                </a:solidFill>
              </a:rPr>
              <a:t>11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871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BE"/>
                </a:solidFill>
              </a:rPr>
              <a:t>pipeline stages, all green</a:t>
            </a:r>
            <a:endParaRPr lang="en-US" sz="1200" dirty="0"/>
          </a:p>
        </p:txBody>
      </p:sp>
      <p:sp>
        <p:nvSpPr>
          <p:cNvPr id="6" name="panel-31"/>
          <p:cNvSpPr/>
          <p:nvPr/>
        </p:nvSpPr>
        <p:spPr>
          <a:xfrm>
            <a:off x="4370832" y="14630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1E2329"/>
          </a:solidFill>
          <a:ln w="6350">
            <a:solidFill>
              <a:srgbClr val="1E232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45152" y="16642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86B"/>
                </a:solidFill>
              </a:rPr>
              <a:t>129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645152" y="24871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BE"/>
                </a:solidFill>
              </a:rPr>
              <a:t>tests, zero failing</a:t>
            </a:r>
            <a:endParaRPr lang="en-US" sz="1200" dirty="0"/>
          </a:p>
        </p:txBody>
      </p:sp>
      <p:sp>
        <p:nvSpPr>
          <p:cNvPr id="9" name="panel-32"/>
          <p:cNvSpPr/>
          <p:nvPr/>
        </p:nvSpPr>
        <p:spPr>
          <a:xfrm>
            <a:off x="8101584" y="14630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1E2329"/>
          </a:solidFill>
          <a:ln w="6350">
            <a:solidFill>
              <a:srgbClr val="1E232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75904" y="16642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8C9B"/>
                </a:solidFill>
              </a:rPr>
              <a:t>16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375904" y="24871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BE"/>
                </a:solidFill>
              </a:rPr>
              <a:t>versioned images in the registry</a:t>
            </a:r>
            <a:endParaRPr lang="en-US" sz="1200" dirty="0"/>
          </a:p>
        </p:txBody>
      </p:sp>
      <p:sp>
        <p:nvSpPr>
          <p:cNvPr id="12" name="panel-33"/>
          <p:cNvSpPr/>
          <p:nvPr/>
        </p:nvSpPr>
        <p:spPr>
          <a:xfrm>
            <a:off x="640080" y="33832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1E2329"/>
          </a:solidFill>
          <a:ln w="6350">
            <a:solidFill>
              <a:srgbClr val="1E232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58444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8C9B"/>
                </a:solidFill>
              </a:rPr>
              <a:t>8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4074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BE"/>
                </a:solidFill>
              </a:rPr>
              <a:t>containers forming the lab</a:t>
            </a:r>
            <a:endParaRPr lang="en-US" sz="1200" dirty="0"/>
          </a:p>
        </p:txBody>
      </p:sp>
      <p:sp>
        <p:nvSpPr>
          <p:cNvPr id="15" name="panel-34"/>
          <p:cNvSpPr/>
          <p:nvPr/>
        </p:nvSpPr>
        <p:spPr>
          <a:xfrm>
            <a:off x="4370832" y="33832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1E2329"/>
          </a:solidFill>
          <a:ln w="6350">
            <a:solidFill>
              <a:srgbClr val="1E232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45152" y="358444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A317"/>
                </a:solidFill>
              </a:rPr>
              <a:t>&lt; 2 min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4645152" y="44074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BE"/>
                </a:solidFill>
              </a:rPr>
              <a:t>to record a session (SC1)</a:t>
            </a:r>
            <a:endParaRPr lang="en-US" sz="1200" dirty="0"/>
          </a:p>
        </p:txBody>
      </p:sp>
      <p:sp>
        <p:nvSpPr>
          <p:cNvPr id="18" name="panel-35"/>
          <p:cNvSpPr/>
          <p:nvPr/>
        </p:nvSpPr>
        <p:spPr>
          <a:xfrm>
            <a:off x="8101584" y="33832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1E2329"/>
          </a:solidFill>
          <a:ln w="6350">
            <a:solidFill>
              <a:srgbClr val="1E232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75904" y="358444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A317"/>
                </a:solidFill>
              </a:rPr>
              <a:t>0 days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375904" y="44074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BE"/>
                </a:solidFill>
              </a:rPr>
              <a:t>until a student sees it (SC2)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B9C"/>
                </a:solidFill>
              </a:rPr>
              <a:t>Success criteria SC1 and SC2 were defined in Stage 1 with measured baselines, then met and re-measured in Stage 15.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this project does not solve</a:t>
            </a:r>
            <a:endParaRPr lang="en-US" sz="3200" dirty="0"/>
          </a:p>
        </p:txBody>
      </p:sp>
      <p:sp>
        <p:nvSpPr>
          <p:cNvPr id="3" name="panel-36"/>
          <p:cNvSpPr/>
          <p:nvPr/>
        </p:nvSpPr>
        <p:spPr>
          <a:xfrm>
            <a:off x="640080" y="1371600"/>
            <a:ext cx="10908792" cy="1097280"/>
          </a:xfrm>
          <a:prstGeom prst="roundRect">
            <a:avLst>
              <a:gd name="adj" fmla="val 6667"/>
            </a:avLst>
          </a:prstGeom>
          <a:solidFill>
            <a:srgbClr val="FDEBEE"/>
          </a:solidFill>
          <a:ln w="6350">
            <a:solidFill>
              <a:srgbClr val="FDEB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49047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</a:rPr>
              <a:t>No database migrations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490472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</a:rPr>
              <a:t>Schema is managed by ddl-auto with no Flyway. A NOT NULL column cannot be added to a table with rows — in production that is data loss. The fix is Flyway with ddl-auto: validate.</a:t>
            </a:r>
            <a:endParaRPr lang="en-US" sz="1150" dirty="0"/>
          </a:p>
        </p:txBody>
      </p:sp>
      <p:sp>
        <p:nvSpPr>
          <p:cNvPr id="6" name="panel-37"/>
          <p:cNvSpPr/>
          <p:nvPr/>
        </p:nvSpPr>
        <p:spPr>
          <a:xfrm>
            <a:off x="640080" y="2578608"/>
            <a:ext cx="10908792" cy="1097280"/>
          </a:xfrm>
          <a:prstGeom prst="roundRect">
            <a:avLst>
              <a:gd name="adj" fmla="val 6667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697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Not truly immutable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69748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</a:rPr>
              <a:t>Containers are replaced, but the H2 file persists in a volume. Real immutability replaces the whole thing.</a:t>
            </a:r>
            <a:endParaRPr lang="en-US" sz="1150" dirty="0"/>
          </a:p>
        </p:txBody>
      </p:sp>
      <p:sp>
        <p:nvSpPr>
          <p:cNvPr id="9" name="panel-38"/>
          <p:cNvSpPr/>
          <p:nvPr/>
        </p:nvSpPr>
        <p:spPr>
          <a:xfrm>
            <a:off x="640080" y="3785616"/>
            <a:ext cx="10908792" cy="1097280"/>
          </a:xfrm>
          <a:prstGeom prst="roundRect">
            <a:avLst>
              <a:gd name="adj" fmla="val 6667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90448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Observability stops at a health check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904488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</a:rPr>
              <a:t>Up or down. Nothing reports slow, or failing for a fraction of users. No metrics, no log aggregation, no alerting.</a:t>
            </a:r>
            <a:endParaRPr lang="en-US" sz="1150" dirty="0"/>
          </a:p>
        </p:txBody>
      </p:sp>
      <p:sp>
        <p:nvSpPr>
          <p:cNvPr id="12" name="panel-39"/>
          <p:cNvSpPr/>
          <p:nvPr/>
        </p:nvSpPr>
        <p:spPr>
          <a:xfrm>
            <a:off x="640080" y="4992624"/>
            <a:ext cx="10908792" cy="1097280"/>
          </a:xfrm>
          <a:prstGeom prst="roundRect">
            <a:avLst>
              <a:gd name="adj" fmla="val 6667"/>
            </a:avLst>
          </a:prstGeom>
          <a:solidFill>
            <a:srgbClr val="F3F5F6"/>
          </a:solidFill>
          <a:ln w="6350">
            <a:solidFill>
              <a:srgbClr val="F3F5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5111496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Single node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5111496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</a:rPr>
              <a:t>No load balancing, no blue-green, and a window during deployment where the service is down.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8C9B"/>
                </a:solidFill>
              </a:rPr>
              <a:t>A weakness named first reads as understanding. The same weakness found by the examiner reads as luck.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03120"/>
            <a:ext cx="10908792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DevOps is replacing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"I think it works" with evidence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00A86B"/>
                </a:solidFill>
              </a:rPr>
              <a:t>…and automating the step so the evidence appears whether or not anyone asks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5120640"/>
            <a:ext cx="10908792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Swaroop Naik · Roll 23102A0001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7A8B9C"/>
                </a:solidFill>
              </a:rPr>
              <a:t>github.com/Swaroop192005/CI-CD-Pipeline-for-a-Student-Attendance-Management</a:t>
            </a:r>
            <a:endParaRPr lang="en-US" sz="1400" dirty="0"/>
          </a:p>
        </p:txBody>
      </p:sp>
      <p:sp>
        <p:nvSpPr>
          <p:cNvPr id="5" name="chip-40"/>
          <p:cNvSpPr/>
          <p:nvPr/>
        </p:nvSpPr>
        <p:spPr>
          <a:xfrm>
            <a:off x="640080" y="13258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00A86B"/>
          </a:solidFill>
          <a:ln w="6350">
            <a:solidFill>
              <a:srgbClr val="00A8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191D"/>
                </a:solidFill>
              </a:rPr>
              <a:t>CI</a:t>
            </a:r>
            <a:endParaRPr lang="en-US" sz="900" dirty="0"/>
          </a:p>
        </p:txBody>
      </p:sp>
      <p:sp>
        <p:nvSpPr>
          <p:cNvPr id="7" name="chip-41"/>
          <p:cNvSpPr/>
          <p:nvPr/>
        </p:nvSpPr>
        <p:spPr>
          <a:xfrm>
            <a:off x="2852928" y="13258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00A86B"/>
          </a:solidFill>
          <a:ln w="6350">
            <a:solidFill>
              <a:srgbClr val="00A8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52928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191D"/>
                </a:solidFill>
              </a:rPr>
              <a:t>129 tests</a:t>
            </a:r>
            <a:endParaRPr lang="en-US" sz="900" dirty="0"/>
          </a:p>
        </p:txBody>
      </p:sp>
      <p:sp>
        <p:nvSpPr>
          <p:cNvPr id="9" name="chip-42"/>
          <p:cNvSpPr/>
          <p:nvPr/>
        </p:nvSpPr>
        <p:spPr>
          <a:xfrm>
            <a:off x="5065776" y="13258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00A86B"/>
          </a:solidFill>
          <a:ln w="6350">
            <a:solidFill>
              <a:srgbClr val="00A8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65776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191D"/>
                </a:solidFill>
              </a:rPr>
              <a:t>the gate</a:t>
            </a:r>
            <a:endParaRPr lang="en-US" sz="900" dirty="0"/>
          </a:p>
        </p:txBody>
      </p:sp>
      <p:sp>
        <p:nvSpPr>
          <p:cNvPr id="11" name="chip-43"/>
          <p:cNvSpPr/>
          <p:nvPr/>
        </p:nvSpPr>
        <p:spPr>
          <a:xfrm>
            <a:off x="7278624" y="13258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00A86B"/>
          </a:solidFill>
          <a:ln w="6350">
            <a:solidFill>
              <a:srgbClr val="00A8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78624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191D"/>
                </a:solidFill>
              </a:rPr>
              <a:t>versioned tags</a:t>
            </a:r>
            <a:endParaRPr lang="en-US" sz="900" dirty="0"/>
          </a:p>
        </p:txBody>
      </p:sp>
      <p:sp>
        <p:nvSpPr>
          <p:cNvPr id="13" name="chip-44"/>
          <p:cNvSpPr/>
          <p:nvPr/>
        </p:nvSpPr>
        <p:spPr>
          <a:xfrm>
            <a:off x="9491472" y="13258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00A86B"/>
          </a:solidFill>
          <a:ln w="6350">
            <a:solidFill>
              <a:srgbClr val="00A8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91472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191D"/>
                </a:solidFill>
              </a:rPr>
              <a:t>health check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peline Signal">
  <a:themeElements>
    <a:clrScheme name="Pipeline Signal">
      <a:dk1>
        <a:srgbClr val="16191D"/>
      </a:dk1>
      <a:lt1>
        <a:srgbClr val="FFFFFF"/>
      </a:lt1>
      <a:dk2>
        <a:srgbClr val="36454F"/>
      </a:dk2>
      <a:lt2>
        <a:srgbClr val="F3F5F6"/>
      </a:lt2>
      <a:accent1>
        <a:srgbClr val="00A86B"/>
      </a:accent1>
      <a:accent2>
        <a:srgbClr val="0E8C9B"/>
      </a:accent2>
      <a:accent3>
        <a:srgbClr val="D7263D"/>
      </a:accent3>
      <a:accent4>
        <a:srgbClr val="E9A317"/>
      </a:accent4>
      <a:accent5>
        <a:srgbClr val="7A8B9C"/>
      </a:accent5>
      <a:accent6>
        <a:srgbClr val="21295C"/>
      </a:accent6>
      <a:hlink>
        <a:srgbClr val="0E8C9B"/>
      </a:hlink>
      <a:folHlink>
        <a:srgbClr val="7A8B9C"/>
      </a:folHlink>
    </a:clrScheme>
    <a:fontScheme name="Pipeline Sig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CI/CD Pipeline for a Student Attendance Management Portal</dc:title>
  <dc:subject>DevOps project submission - Roll 23102A0001</dc:subject>
  <dc:creator>Swaroop Naik</dc:creator>
  <cp:lastModifiedBy>Swaroop Naik</cp:lastModifiedBy>
  <cp:revision>1</cp:revision>
  <dcterms:created xsi:type="dcterms:W3CDTF">2026-10-30T04:52:05Z</dcterms:created>
  <dcterms:modified xsi:type="dcterms:W3CDTF">2026-10-30T04:52:05Z</dcterms:modified>
</cp:coreProperties>
</file>